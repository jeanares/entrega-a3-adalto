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2"/>
    <p:sldId id="263" r:id="rId3"/>
    <p:sldId id="264" r:id="rId4"/>
    <p:sldId id="262" r:id="rId5"/>
    <p:sldId id="256" r:id="rId6"/>
    <p:sldId id="257" r:id="rId7"/>
    <p:sldId id="258" r:id="rId8"/>
    <p:sldId id="259" r:id="rId9"/>
    <p:sldId id="260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9DEE7E-EA4A-FD42-64DC-A9E7DEDC4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um grafo?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C2CB6E9-75F4-34D0-390F-681C981C74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36406"/>
            <a:ext cx="8229600" cy="5518355"/>
          </a:xfrm>
        </p:spPr>
        <p:txBody>
          <a:bodyPr>
            <a:normAutofit fontScale="92500" lnSpcReduction="20000"/>
          </a:bodyPr>
          <a:lstStyle/>
          <a:p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 </a:t>
            </a:r>
            <a:r>
              <a:rPr lang="pt-BR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grafo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é uma estrutura matemática usada para representar relações entre objetos. Ele é formado por:</a:t>
            </a:r>
          </a:p>
          <a:p>
            <a:r>
              <a:rPr lang="pt-BR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Vértices (ou nós)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os pontos/objetos</a:t>
            </a:r>
          </a:p>
          <a:p>
            <a:r>
              <a:rPr lang="pt-BR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Arestas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as conexões entre os vértices</a:t>
            </a:r>
          </a:p>
          <a:p>
            <a:pPr marL="0" indent="0">
              <a:buNone/>
            </a:pPr>
            <a:endParaRPr lang="pt-BR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Exemplos práticos:</a:t>
            </a:r>
            <a:endParaRPr lang="pt-BR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Redes sociais (pessoas são vértices, amizades são arestas)</a:t>
            </a:r>
          </a:p>
          <a:p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Mapas (cidades são vértices, estradas são arestas)</a:t>
            </a:r>
          </a:p>
          <a:p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(páginas são vértices, links são arestas)</a:t>
            </a:r>
          </a:p>
          <a:p>
            <a:endParaRPr lang="pt-BR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Tipos comuns:</a:t>
            </a:r>
            <a:endParaRPr lang="pt-BR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Direcionado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as arestas têm direção (A → B)</a:t>
            </a:r>
          </a:p>
          <a:p>
            <a:r>
              <a:rPr lang="pt-BR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Não-direcionado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as conexões são bidirecionais</a:t>
            </a:r>
          </a:p>
          <a:p>
            <a:r>
              <a:rPr lang="pt-BR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Ponderado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as arestas têm valores/pesos (tipo distâncias)</a:t>
            </a:r>
          </a:p>
          <a:p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Grafos são fundamentais em ciência da computação para resolver problemas como encontrar o menor caminho, detectar ciclos, organizar tarefas, etc.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806643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567A53-9107-9C67-AAB7-A52B3C2B4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Motivo do tema selecionado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749F9B6-BD0A-7C1D-B6E2-C788D49982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094704"/>
            <a:ext cx="8229600" cy="137897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Partimos da ideia de que, um carro, caminhão, </a:t>
            </a:r>
            <a:r>
              <a:rPr lang="pt-B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quer chegar em uma cidade partir de uma cidade “x” e tendo a cidade “y” como origem, pra isso ele precisa saber qual o melhor caminho percorrer.</a:t>
            </a:r>
          </a:p>
          <a:p>
            <a:endParaRPr lang="pt-B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pt-B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0302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BBC9D0-6318-670A-9141-451EE95A0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o código faz?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1FF22C7-355F-59B6-F7F9-34E1D9963E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Nosso sistema implementa um gerenciamento de grafo de cidades do Rio Grande do Sul, permitindo as seguintes ações:</a:t>
            </a:r>
          </a:p>
          <a:p>
            <a:r>
              <a:rPr lang="pt-BR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Cadastro e listagem de cidades</a:t>
            </a:r>
          </a:p>
          <a:p>
            <a:r>
              <a:rPr lang="pt-BR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Cálculo de distâncias e trajetos entre cidades</a:t>
            </a:r>
          </a:p>
          <a:p>
            <a:r>
              <a:rPr lang="pt-BR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Busca aproximada de cidades (tolerante a erros de digitação)</a:t>
            </a:r>
          </a:p>
          <a:p>
            <a:r>
              <a:rPr lang="pt-BR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Contagem de conexões por cidade</a:t>
            </a:r>
          </a:p>
          <a:p>
            <a:r>
              <a:rPr lang="pt-BR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Criação de novas conexões</a:t>
            </a:r>
          </a:p>
          <a:p>
            <a:r>
              <a:rPr lang="pt-BR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Sugestão de rotas parciais quando não há caminho direto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57893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92468898-5A6E-4D55-85EC-308E785EE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7B73F75-26A4-863A-E021-2D8F80E07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326" y="411480"/>
            <a:ext cx="8401050" cy="1106424"/>
          </a:xfrm>
        </p:spPr>
        <p:txBody>
          <a:bodyPr>
            <a:normAutofit/>
          </a:bodyPr>
          <a:lstStyle/>
          <a:p>
            <a:r>
              <a:rPr lang="pt-BR" sz="3100" dirty="0"/>
              <a:t>Modelo do Grafo utilizado no código</a:t>
            </a:r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3E23A947-2D45-4208-AE2B-64948C87A3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9845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A79F288-6281-A132-D325-7A99F7D24D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2326" y="2180518"/>
            <a:ext cx="5026914" cy="3594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1037" name="Rectangle 1036">
            <a:extLst>
              <a:ext uri="{FF2B5EF4-FFF2-40B4-BE49-F238E27FC236}">
                <a16:creationId xmlns:a16="http://schemas.microsoft.com/office/drawing/2014/main" id="{E5BBB0F9-6A59-4D02-A9C7-A2D6516684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7850" y="1721922"/>
            <a:ext cx="3163824" cy="4520560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0" name="Content Placeholder 1029">
            <a:extLst>
              <a:ext uri="{FF2B5EF4-FFF2-40B4-BE49-F238E27FC236}">
                <a16:creationId xmlns:a16="http://schemas.microsoft.com/office/drawing/2014/main" id="{D3E7A56A-2D62-B4A2-2BBE-45B46001F5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4064" y="2020824"/>
            <a:ext cx="2591322" cy="3959352"/>
          </a:xfrm>
        </p:spPr>
        <p:txBody>
          <a:bodyPr anchor="ctr">
            <a:normAutofit/>
          </a:bodyPr>
          <a:lstStyle/>
          <a:p>
            <a:r>
              <a:rPr lang="en-US" sz="1600" dirty="0"/>
              <a:t>O </a:t>
            </a:r>
            <a:r>
              <a:rPr lang="en-US" sz="1600" dirty="0" err="1"/>
              <a:t>nosso</a:t>
            </a:r>
            <a:r>
              <a:rPr lang="en-US" sz="1600" dirty="0"/>
              <a:t> </a:t>
            </a:r>
            <a:r>
              <a:rPr lang="en-US" sz="1600" dirty="0" err="1"/>
              <a:t>grafo</a:t>
            </a:r>
            <a:r>
              <a:rPr lang="en-US" sz="1600" dirty="0"/>
              <a:t> </a:t>
            </a:r>
            <a:r>
              <a:rPr lang="en-US" sz="1600" dirty="0" err="1"/>
              <a:t>está</a:t>
            </a:r>
            <a:r>
              <a:rPr lang="en-US" sz="1600" dirty="0"/>
              <a:t> </a:t>
            </a:r>
            <a:r>
              <a:rPr lang="en-US" sz="1600" dirty="0" err="1"/>
              <a:t>representando</a:t>
            </a:r>
            <a:r>
              <a:rPr lang="en-US" sz="1600" dirty="0"/>
              <a:t> </a:t>
            </a:r>
            <a:r>
              <a:rPr lang="en-US" sz="1600" dirty="0" err="1"/>
              <a:t>ligações</a:t>
            </a:r>
            <a:r>
              <a:rPr lang="en-US" sz="1600" dirty="0"/>
              <a:t> entre Cidades, </a:t>
            </a:r>
            <a:r>
              <a:rPr lang="en-US" sz="1600" dirty="0" err="1"/>
              <a:t>onde</a:t>
            </a:r>
            <a:r>
              <a:rPr lang="en-US" sz="1600" dirty="0"/>
              <a:t> </a:t>
            </a:r>
            <a:r>
              <a:rPr lang="en-US" sz="1600" dirty="0" err="1"/>
              <a:t>algumas</a:t>
            </a:r>
            <a:r>
              <a:rPr lang="en-US" sz="1600" dirty="0"/>
              <a:t> </a:t>
            </a:r>
            <a:r>
              <a:rPr lang="en-US" sz="1600" dirty="0" err="1"/>
              <a:t>propositalmente</a:t>
            </a:r>
            <a:r>
              <a:rPr lang="en-US" sz="1600" dirty="0"/>
              <a:t> </a:t>
            </a:r>
            <a:r>
              <a:rPr lang="en-US" sz="1600" dirty="0" err="1"/>
              <a:t>não</a:t>
            </a:r>
            <a:r>
              <a:rPr lang="en-US" sz="1600" dirty="0"/>
              <a:t> </a:t>
            </a:r>
            <a:r>
              <a:rPr lang="en-US" sz="1600" dirty="0" err="1"/>
              <a:t>tem</a:t>
            </a:r>
            <a:r>
              <a:rPr lang="en-US" sz="1600" dirty="0"/>
              <a:t> </a:t>
            </a:r>
            <a:r>
              <a:rPr lang="en-US" sz="1600" dirty="0" err="1"/>
              <a:t>ligações</a:t>
            </a:r>
            <a:r>
              <a:rPr lang="en-US" sz="1600" dirty="0"/>
              <a:t>, para </a:t>
            </a:r>
            <a:r>
              <a:rPr lang="en-US" sz="1600" dirty="0" err="1"/>
              <a:t>podermos</a:t>
            </a:r>
            <a:r>
              <a:rPr lang="en-US" sz="1600" dirty="0"/>
              <a:t> no </a:t>
            </a:r>
            <a:r>
              <a:rPr lang="en-US" sz="1600" dirty="0" err="1"/>
              <a:t>código</a:t>
            </a:r>
            <a:r>
              <a:rPr lang="en-US" sz="1600" dirty="0"/>
              <a:t> </a:t>
            </a:r>
            <a:r>
              <a:rPr lang="en-US" sz="1600" dirty="0" err="1"/>
              <a:t>criarmos</a:t>
            </a:r>
            <a:r>
              <a:rPr lang="en-US" sz="1600" dirty="0"/>
              <a:t> </a:t>
            </a:r>
            <a:r>
              <a:rPr lang="en-US" sz="1600" dirty="0" err="1"/>
              <a:t>essas</a:t>
            </a:r>
            <a:r>
              <a:rPr lang="en-US" sz="1600" dirty="0"/>
              <a:t> </a:t>
            </a:r>
            <a:r>
              <a:rPr lang="en-US" sz="1600" dirty="0" err="1"/>
              <a:t>novas</a:t>
            </a:r>
            <a:r>
              <a:rPr lang="en-US" sz="1600" dirty="0"/>
              <a:t> </a:t>
            </a:r>
            <a:r>
              <a:rPr lang="en-US" sz="1600" dirty="0" err="1"/>
              <a:t>ligações</a:t>
            </a:r>
            <a:r>
              <a:rPr lang="en-US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138669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Estrutura do Grafo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t>typedef struct Edge {</a:t>
            </a:r>
            <a:br/>
            <a:r>
              <a:t>    int to;</a:t>
            </a:r>
            <a:br/>
            <a:r>
              <a:t>    int weight;</a:t>
            </a:r>
            <a:br/>
            <a:r>
              <a:t>    struct Edge *next;</a:t>
            </a:r>
            <a:br/>
            <a:r>
              <a:t>} Edge;</a:t>
            </a:r>
            <a:br/>
            <a:br/>
            <a:r>
              <a:t>Edge *adj[MAX_CITIES] = {NULL};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400">
                <a:solidFill>
                  <a:srgbClr val="000000"/>
                </a:solidFill>
                <a:latin typeface="Arial"/>
              </a:defRPr>
            </a:pPr>
            <a:r>
              <a:t>Representa conexões entre cidades. Cada Edge guarda destino e peso. adj[] é um vetor de listas ligadas.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Adicionar Conexão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t>void add_edge(int a, int b, int w) {</a:t>
            </a:r>
            <a:br/>
            <a:r>
              <a:t>    Edge *e1 = malloc(sizeof(Edge));</a:t>
            </a:r>
            <a:br/>
            <a:r>
              <a:t>    e1-&gt;to = b; e1-&gt;weight = w; e1-&gt;next = adj[a]; adj[a] = e1;</a:t>
            </a:r>
            <a:br/>
            <a:br/>
            <a:r>
              <a:t>    Edge *e2 = malloc(sizeof(Edge));</a:t>
            </a:r>
            <a:br/>
            <a:r>
              <a:t>    e2-&gt;to = a; e2-&gt;weight = w; e2-&gt;next = adj[b]; adj[b] = e2;</a:t>
            </a:r>
            <a:br/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400">
                <a:solidFill>
                  <a:srgbClr val="000000"/>
                </a:solidFill>
                <a:latin typeface="Arial"/>
              </a:defRPr>
            </a:pPr>
            <a:r>
              <a:t>Cria duas arestas para manter o grafo não direcionado. Liga cidade A com B e vice-versa.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Algoritmo Dijkstra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t>void dijkstra(int src, int dist[], int prev[]) {</a:t>
            </a:r>
            <a:br/>
            <a:r>
              <a:t>    for (int i=0; i&lt;city_count; ++i) { dist[i] = INT_MAX; prev[i] = -1; }</a:t>
            </a:r>
            <a:br/>
            <a:r>
              <a:t>    dist[src] = 0;</a:t>
            </a:r>
            <a:br/>
            <a:r>
              <a:t>    ...</a:t>
            </a:r>
            <a:br/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400">
                <a:solidFill>
                  <a:srgbClr val="000000"/>
                </a:solidFill>
                <a:latin typeface="Arial"/>
              </a:defRPr>
            </a:pPr>
            <a:r>
              <a:t>Inicializa distâncias com infinito, define origem como 0 e atualiza vizinhos até visitar todos.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Busca Aproximada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t>int levenshtein(const char *s1, const char *s2) {</a:t>
            </a:r>
            <a:br/>
            <a:r>
              <a:t>    ...</a:t>
            </a:r>
            <a:br/>
            <a:r>
              <a:t>}</a:t>
            </a:r>
            <a:br/>
            <a:br/>
            <a:r>
              <a:t>int fuzzy_match_city(const char *name) {</a:t>
            </a:r>
            <a:br/>
            <a:r>
              <a:t>    ...</a:t>
            </a:r>
            <a:br/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400">
                <a:solidFill>
                  <a:srgbClr val="000000"/>
                </a:solidFill>
                <a:latin typeface="Arial"/>
              </a:defRPr>
            </a:pPr>
            <a:r>
              <a:t>Usa algoritmo de Levenshtein para encontrar cidade mais próxima do nome digitado.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Função Principal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t>int main() {</a:t>
            </a:r>
            <a:br/>
            <a:r>
              <a:t>    load_graph_from_csv();</a:t>
            </a:r>
            <a:br/>
            <a:r>
              <a:t>    while (1) {</a:t>
            </a:r>
            <a:br/>
            <a:r>
              <a:t>        show_menu();</a:t>
            </a:r>
            <a:br/>
            <a:r>
              <a:t>        ...</a:t>
            </a:r>
            <a:br/>
            <a:r>
              <a:t>    }</a:t>
            </a:r>
            <a:br/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400">
                <a:solidFill>
                  <a:srgbClr val="000000"/>
                </a:solidFill>
                <a:latin typeface="Arial"/>
              </a:defRPr>
            </a:pPr>
            <a:r>
              <a:t>Carrega grafo do CSV e apresenta menu interativo para operações: listar cidades, calcular distância, criar conexões.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660</Words>
  <Application>Microsoft Office PowerPoint</Application>
  <PresentationFormat>Apresentação na tela (4:3)</PresentationFormat>
  <Paragraphs>52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Arial</vt:lpstr>
      <vt:lpstr>Calibri</vt:lpstr>
      <vt:lpstr>Times New Roman</vt:lpstr>
      <vt:lpstr>Office Theme</vt:lpstr>
      <vt:lpstr>O que é um grafo?</vt:lpstr>
      <vt:lpstr>Motivo do tema selecionado</vt:lpstr>
      <vt:lpstr>O que o código faz?</vt:lpstr>
      <vt:lpstr>Modelo do Grafo utilizado no código</vt:lpstr>
      <vt:lpstr>Estrutura do Grafo</vt:lpstr>
      <vt:lpstr>Adicionar Conexão</vt:lpstr>
      <vt:lpstr>Algoritmo Dijkstra</vt:lpstr>
      <vt:lpstr>Busca Aproximada</vt:lpstr>
      <vt:lpstr>Função Principal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Jean Soares</cp:lastModifiedBy>
  <cp:revision>2</cp:revision>
  <dcterms:created xsi:type="dcterms:W3CDTF">2013-01-27T09:14:16Z</dcterms:created>
  <dcterms:modified xsi:type="dcterms:W3CDTF">2025-12-02T23:23:36Z</dcterms:modified>
  <cp:category/>
</cp:coreProperties>
</file>